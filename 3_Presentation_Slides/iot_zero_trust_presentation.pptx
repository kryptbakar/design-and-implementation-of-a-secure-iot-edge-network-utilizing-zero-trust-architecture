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B2A"/>
                </a:solidFill>
                <a:latin typeface="Arial"/>
              </a:rPr>
              <a:t>Throughput (Mbps) on 1 Gbps Link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Throughput (Mbps)</c:v>
                </c:pt>
              </c:strCache>
            </c:strRef>
          </c:tx>
          <c:spPr>
            <a:solidFill>
              <a:srgbClr val="AAAA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AAAA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C9A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Cleartext</c:v>
                  </c:pt>
                  <c:pt idx="1">
                    <c:v>WireGuard</c:v>
                  </c:pt>
                  <c:pt idx="2">
                    <c:v>IPsec (IKEv2/AES-GCM)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942</c:v>
                </c:pt>
                <c:pt idx="1">
                  <c:v>847</c:v>
                </c:pt>
                <c:pt idx="2">
                  <c:v>623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/>
              </a:rPr>
              <a:t>End-to-End RTT to WAN (ms)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RTT (ms)</c:v>
                </c:pt>
              </c:strCache>
            </c:strRef>
          </c:tx>
          <c:spPr>
            <a:solidFill>
              <a:srgbClr val="00C9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C9A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C9A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C9A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PC0 (wired)</c:v>
                  </c:pt>
                  <c:pt idx="1">
                    <c:v>PC1 (wired)</c:v>
                  </c:pt>
                  <c:pt idx="2">
                    <c:v>Server1</c:v>
                  </c:pt>
                  <c:pt idx="3">
                    <c:v>Server3 (same VLAN)</c:v>
                  </c:pt>
                  <c:pt idx="4">
                    <c:v>Tablet PC0 (Wi-Fi)</c:v>
                  </c:pt>
                  <c:pt idx="5">
                    <c:v>Tablet PC2 (Wi-Fi)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3</c:v>
                </c:pt>
                <c:pt idx="2">
                  <c:v>5</c:v>
                </c:pt>
                <c:pt idx="3">
                  <c:v>0</c:v>
                </c:pt>
                <c:pt idx="4">
                  <c:v>20</c:v>
                </c:pt>
                <c:pt idx="5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365760"/>
            <a:ext cx="3657600" cy="3657600"/>
          </a:xfrm>
          <a:prstGeom prst="ellipse">
            <a:avLst/>
          </a:prstGeom>
          <a:solidFill>
            <a:srgbClr val="2D4356"/>
          </a:solidFill>
          <a:ln w="12700">
            <a:solidFill>
              <a:srgbClr val="2D43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65760"/>
            <a:ext cx="2286000" cy="2286000"/>
          </a:xfrm>
          <a:prstGeom prst="ellipse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45720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640080"/>
            <a:ext cx="6217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 IoT / Edge Network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94360" y="160020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Utilizing Zero-Trust Architecture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94360" y="2286000"/>
            <a:ext cx="4572000" cy="36576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9" name="Shape 6"/>
          <p:cNvSpPr/>
          <p:nvPr/>
        </p:nvSpPr>
        <p:spPr>
          <a:xfrm>
            <a:off x="594360" y="2468880"/>
            <a:ext cx="3200400" cy="411480"/>
          </a:xfrm>
          <a:prstGeom prst="roundRect">
            <a:avLst>
              <a:gd name="adj" fmla="val 17778"/>
            </a:avLst>
          </a:prstGeom>
          <a:solidFill>
            <a:srgbClr val="2D4356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48716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CE313 — Computer Communications &amp; Networks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94360" y="3017520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Muntazir   2023098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4360" y="3337560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Abubakar Butt  2023352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4360" y="3657600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Ismail              2023453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4360" y="3977640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Usman             2023581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9436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GIK Institute of Engineering Sciences &amp; Technology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campus networks fail in the IoT era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8346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834640" cy="54864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1430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4048" y="1719072"/>
            <a:ext cx="2615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Implicit Trust by Default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2304288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a device is plugged into the LAN, it is trusted — regardless of whether it's a managed workstation or a cheap factory sensor with default credentials.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960120"/>
            <a:ext cx="28346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960120"/>
            <a:ext cx="2834640" cy="54864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14300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55848" y="1719072"/>
            <a:ext cx="2615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Weak Device Security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83280" y="2304288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probes, IP cameras &amp; smart locks ship with weak credentials, no firmware update path, and outdated TLS stacks. Yet they sit on the same network as critical systems.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17920" y="960120"/>
            <a:ext cx="28346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960120"/>
            <a:ext cx="2834640" cy="54864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14300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27648" y="1719072"/>
            <a:ext cx="2615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Castle-and-Moat Is Broken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355080" y="2304288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compromised HVAC controller gives attackers the same lateral reach as a fully patched workstation. The perimeter has been easy to breach for over a decade.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D4356"/>
          </a:solidFill>
          <a:ln/>
        </p:spPr>
      </p:sp>
      <p:sp>
        <p:nvSpPr>
          <p:cNvPr id="21" name="Text 16"/>
          <p:cNvSpPr/>
          <p:nvPr/>
        </p:nvSpPr>
        <p:spPr>
          <a:xfrm>
            <a:off x="365760" y="4663440"/>
            <a:ext cx="841248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4.0 reality: 50+ heterogeneous IoT endpoints on one factory floor — most unpatched, some unmanageable.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D1B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4572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17830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Zero-Trust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82880" y="2697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800-207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7432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00C9A7"/>
                </a:solidFill>
              </a:rPr>
              <a:t>"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182880" y="32918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520440" y="502920"/>
            <a:ext cx="5394960" cy="132588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20440" y="502920"/>
            <a:ext cx="73152" cy="13258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0" y="57607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3657600" y="98755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Explicit Verification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57600" y="129844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&amp; authorise every packet, every host, every user — regardless of network location.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520440" y="1965960"/>
            <a:ext cx="5394960" cy="132588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520440" y="1965960"/>
            <a:ext cx="73152" cy="13258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0" y="203911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3657600" y="245059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Least-Privilege Access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657600" y="276148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minimum permissions needed. Micro-segment the network into 8 VLANs so a sensor can only talk to its gateway.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520440" y="3429000"/>
            <a:ext cx="5394960" cy="132588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520440" y="3429000"/>
            <a:ext cx="73152" cy="13258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0" name="Text 17"/>
          <p:cNvSpPr/>
          <p:nvPr/>
        </p:nvSpPr>
        <p:spPr>
          <a:xfrm>
            <a:off x="3657600" y="350215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3657600" y="391363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Assume Breach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657600" y="422452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controls so that the failure of ANY ONE does not collapse the whole. Five independent layers, each at a different OSI layer.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hierarchical topology for a 15,000 m² smart-manufacturing plant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14400" y="960120"/>
            <a:ext cx="7315200" cy="548640"/>
          </a:xfrm>
          <a:prstGeom prst="rect">
            <a:avLst/>
          </a:prstGeom>
          <a:solidFill>
            <a:srgbClr val="FF6B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9601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PERIMETER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9601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 / Cisco ASA (FW-01)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26280" y="1508760"/>
            <a:ext cx="0" cy="13716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600200"/>
            <a:ext cx="7315200" cy="54864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16002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16002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 4451 (CR-01)  ·  Catalyst 9300 (CS-01)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26280" y="2148840"/>
            <a:ext cx="0" cy="13716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240280"/>
            <a:ext cx="7315200" cy="54864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" y="22402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22402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 3850 × 2 — Redundant, DAI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26280" y="2788920"/>
            <a:ext cx="0" cy="13716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2880360"/>
            <a:ext cx="7315200" cy="54864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05840" y="28803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0" y="28803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 2960 × 3 — Office · Production · Servers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26280" y="3429000"/>
            <a:ext cx="0" cy="13716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3520440"/>
            <a:ext cx="7315200" cy="548640"/>
          </a:xfrm>
          <a:prstGeom prst="rect">
            <a:avLst/>
          </a:prstGeom>
          <a:solidFill>
            <a:srgbClr val="00C9A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05840" y="35204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WIRELESS / EDGE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0" y="35204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Aironet 4800 (802.11ax)  ·  RPi 4 Edge Gateway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279392"/>
            <a:ext cx="201168" cy="20116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42519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10.50.0.0/16 supernet — 8 VLANs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663440"/>
            <a:ext cx="201168" cy="20116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" y="46360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OM4 fibre 10G core links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4279392"/>
            <a:ext cx="201168" cy="20116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9" name="Text 27"/>
          <p:cNvSpPr/>
          <p:nvPr/>
        </p:nvSpPr>
        <p:spPr>
          <a:xfrm>
            <a:off x="5010912" y="42519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3 switching hops: Access → WAN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4663440"/>
            <a:ext cx="201168" cy="201168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31" name="Text 29"/>
          <p:cNvSpPr/>
          <p:nvPr/>
        </p:nvSpPr>
        <p:spPr>
          <a:xfrm>
            <a:off x="5010912" y="46360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Rapid-PVST+ loop prevention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VLAN MICRO-SEGMENTATION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64592" y="914400"/>
            <a:ext cx="21031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" y="914400"/>
            <a:ext cx="2103120" cy="47548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" y="91440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VLAN 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70432" y="91440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10312" y="1417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43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10.50.10.0/24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0312" y="1709928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&amp; router management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86584" y="914400"/>
            <a:ext cx="21031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86584" y="914400"/>
            <a:ext cx="2103120" cy="47548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2" name="Text 10"/>
          <p:cNvSpPr/>
          <p:nvPr/>
        </p:nvSpPr>
        <p:spPr>
          <a:xfrm>
            <a:off x="2386584" y="91440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VLAN 20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92424" y="91440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432304" y="1417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43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10.50.20.0/24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32304" y="1709928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 · Syslog · NTP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08576" y="914400"/>
            <a:ext cx="21031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08576" y="914400"/>
            <a:ext cx="2103120" cy="4754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4608576" y="91440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VLAN 30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14416" y="91440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654296" y="1417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43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10.50.30.0/23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54296" y="1709928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workstations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30568" y="914400"/>
            <a:ext cx="21031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30568" y="914400"/>
            <a:ext cx="2103120" cy="47548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6830568" y="91440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VLAN 40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836408" y="91440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876288" y="1417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43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10.50.40.0/24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76288" y="1709928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workstations &amp; HMIs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64592" y="2834640"/>
            <a:ext cx="21031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64592" y="2834640"/>
            <a:ext cx="2103120" cy="4754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164592" y="283464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VLAN 50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70432" y="283464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IOT_SENSORS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10312" y="3337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43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10.50.50.0/23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10312" y="3630168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IoT (50+ ep)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386584" y="2834640"/>
            <a:ext cx="21031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386584" y="2834640"/>
            <a:ext cx="2103120" cy="47548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6" name="Text 34"/>
          <p:cNvSpPr/>
          <p:nvPr/>
        </p:nvSpPr>
        <p:spPr>
          <a:xfrm>
            <a:off x="2386584" y="283464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VLAN 60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92424" y="283464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IOT_CRITICAL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432304" y="3337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43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10.50.60.0/24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432304" y="3630168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locks · Alarms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08576" y="2834640"/>
            <a:ext cx="21031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08576" y="2834640"/>
            <a:ext cx="2103120" cy="4754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2" name="Text 40"/>
          <p:cNvSpPr/>
          <p:nvPr/>
        </p:nvSpPr>
        <p:spPr>
          <a:xfrm>
            <a:off x="4608576" y="283464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VLAN 70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614416" y="283464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654296" y="3337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43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10.50.70.0/24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654296" y="3630168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Internet-only visitors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830568" y="2834640"/>
            <a:ext cx="21031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830568" y="2834640"/>
            <a:ext cx="2103120" cy="47548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8" name="Text 46"/>
          <p:cNvSpPr/>
          <p:nvPr/>
        </p:nvSpPr>
        <p:spPr>
          <a:xfrm>
            <a:off x="6830568" y="283464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VLAN 80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836408" y="283464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VPN_REMOTE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876288" y="3337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43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10.50.80.0/24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876288" y="3630168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WireGuard / IPsec pool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VLAN 999 on all trunks — defence against double-tagging VLAN-hopping attacks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IoT EDGE GATEWAY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intelligence to the building boundary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1945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194560" cy="6400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515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 ms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47472" y="16459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Cloud-anchored latency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193852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edge gateway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51760" y="960120"/>
            <a:ext cx="21945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51760" y="960120"/>
            <a:ext cx="2194560" cy="6400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0515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 ms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724912" y="16459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decision latency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24912" y="193852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92.5% reduction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377440"/>
            <a:ext cx="21945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377440"/>
            <a:ext cx="2194560" cy="6400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4688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82 GB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47472" y="30632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WAN egress (raw)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" y="335584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filtering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651760" y="2377440"/>
            <a:ext cx="21945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651760" y="2377440"/>
            <a:ext cx="2194560" cy="6400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2" name="Text 20"/>
          <p:cNvSpPr/>
          <p:nvPr/>
        </p:nvSpPr>
        <p:spPr>
          <a:xfrm>
            <a:off x="2651760" y="24688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8.2 GB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2724912" y="30632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WAN egress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24912" y="335584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batching (9× less)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0" y="960120"/>
            <a:ext cx="388620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0" y="960120"/>
            <a:ext cx="3886200" cy="6400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7" name="Text 25"/>
          <p:cNvSpPr/>
          <p:nvPr/>
        </p:nvSpPr>
        <p:spPr>
          <a:xfrm>
            <a:off x="5138928" y="1051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Edge Gateway Works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138928" y="1508760"/>
            <a:ext cx="347472" cy="347472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9" name="Text 27"/>
          <p:cNvSpPr/>
          <p:nvPr/>
        </p:nvSpPr>
        <p:spPr>
          <a:xfrm>
            <a:off x="5138928" y="15087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59552" y="1508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Rule Evaluation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59552" y="1819656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Threshold-crossing events trigger control responses (e.g. closing a safety relay) entirely on-site.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138928" y="2532888"/>
            <a:ext cx="347472" cy="347472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33" name="Text 31"/>
          <p:cNvSpPr/>
          <p:nvPr/>
        </p:nvSpPr>
        <p:spPr>
          <a:xfrm>
            <a:off x="5138928" y="25328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59552" y="25328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Temporal Aggregation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559552" y="2843784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samples are batched &amp; decimated before forwarding north — 10× data reduction.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138928" y="3557016"/>
            <a:ext cx="347472" cy="347472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37" name="Text 35"/>
          <p:cNvSpPr/>
          <p:nvPr/>
        </p:nvSpPr>
        <p:spPr>
          <a:xfrm>
            <a:off x="5138928" y="35570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559552" y="355701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Topic-Based Filtering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559552" y="386791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Non-actionable MQTT messages are dropped at the Mosquitto broker before hitting the WAN.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138928" y="4617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Mosquitto MQTT (TLS/8883) + Node-RED on Raspberry Pi 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ZERO-TRUST SECURITY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independent controls — each at a different OSI layer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6949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411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9144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Encrypted Tunnels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26187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WireGuard / IPsec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52360" y="914400"/>
            <a:ext cx="1371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/ Network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31520" y="1691640"/>
            <a:ext cx="7680960" cy="69494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691640"/>
            <a:ext cx="411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16916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Perimeter Firewall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25880" y="2039112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 / Cisco ASA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95160" y="1691640"/>
            <a:ext cx="1371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88720" y="2468880"/>
            <a:ext cx="6766560" cy="6949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2468880"/>
            <a:ext cx="411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83080" y="2468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ARP Inspection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83080" y="281635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 + DHCP Snooping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37960" y="2468880"/>
            <a:ext cx="1371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Link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645920" y="3246120"/>
            <a:ext cx="5852160" cy="69494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1737360" y="3246120"/>
            <a:ext cx="411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240280" y="3246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 Authentication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40280" y="359359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802.1X / MAB (RADIUS)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80760" y="3246120"/>
            <a:ext cx="1371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Link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103120" y="4023360"/>
            <a:ext cx="4937760" cy="69494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6" name="Text 24"/>
          <p:cNvSpPr/>
          <p:nvPr/>
        </p:nvSpPr>
        <p:spPr>
          <a:xfrm>
            <a:off x="2194560" y="4023360"/>
            <a:ext cx="411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697480" y="4023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VLAN Micro-Segmentation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697480" y="43708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VLANs, native VLAN 999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23560" y="4023360"/>
            <a:ext cx="1371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Link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 of any one layer does NOT collapse the others.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VPN COMPARISON: WireGuard vs. IPsec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60120"/>
            <a:ext cx="31089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52160" y="99669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903720" y="9966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WireGuard overhead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903720" y="13167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34% for IPsec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760720" y="1920240"/>
            <a:ext cx="31089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52160" y="195681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ms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903720" y="19568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WireGuard RTT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903720" y="227685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IPsec: 28 ms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760720" y="2880360"/>
            <a:ext cx="31089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852160" y="291693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~4K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903720" y="29169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WireGuard codebase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903720" y="323697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vs 100K+ IPsec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760720" y="3840480"/>
            <a:ext cx="31089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852160" y="387705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Fixed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6903720" y="387705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Cipher suite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903720" y="41970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negotiation surface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65760" y="4297680"/>
            <a:ext cx="841248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WireGuard is the primary VPN for this deployment. IPsec retained only for legacy site-to-site partners.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TCP CONGESTION CONTROL: Reno vs. BBR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5% emulated wireless packet loss — Linux iPerf3 testbed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011680" cy="146304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2011680" cy="6400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0584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324 Mbps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4320" y="17190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TCP Reno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0391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1,247 retransmissions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32304" y="914400"/>
            <a:ext cx="2011680" cy="146304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32304" y="914400"/>
            <a:ext cx="2011680" cy="6400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2" name="Text 10"/>
          <p:cNvSpPr/>
          <p:nvPr/>
        </p:nvSpPr>
        <p:spPr>
          <a:xfrm>
            <a:off x="2432304" y="100584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568 Mbps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432304" y="17190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TCP BBR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32304" y="20391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342 retransmissions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90288" y="914400"/>
            <a:ext cx="2011680" cy="146304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90288" y="914400"/>
            <a:ext cx="201168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4590288" y="100584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+75%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590288" y="17190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Throughput gain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90288" y="20391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BBR over Reno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48272" y="914400"/>
            <a:ext cx="2011680" cy="146304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48272" y="914400"/>
            <a:ext cx="201168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6748272" y="100584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−73%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748272" y="17190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Retransmissions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48272" y="20391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with BBR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2514600"/>
            <a:ext cx="8595360" cy="233172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this matter for a factory?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3017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Reno's flaw: </a:t>
            </a:r>
            <a:pPr indent="0" marL="0">
              <a:buNone/>
            </a:pPr>
            <a:r>
              <a:rPr lang="en-US" sz="105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every packet loss as congestion — halves the send window. On wireless links where loss is mostly corruption (not congestion), this is exactly the wrong response.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3593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BBR's approach: </a:t>
            </a:r>
            <a:pPr indent="0" marL="0">
              <a:buNone/>
            </a:pPr>
            <a:r>
              <a:rPr lang="en-US" sz="105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the bottleneck bandwidth and round-trip propagation delay directly, then paces against that model — ignoring the loss signal. Results: 75% more goodput, 73% fewer retransmissions.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416966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recommendation: </a:t>
            </a:r>
            <a:pPr indent="0" marL="0">
              <a:buNone/>
            </a:pPr>
            <a:r>
              <a:rPr lang="en-US" sz="1050" dirty="0">
                <a:solidFill>
                  <a:srgbClr val="2D4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BBR as the default congestion algorithm (sysctl net.ipv4.tcp_congestion_control=bbr) on all Linux hosts in the factory network.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2D435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HTTP/3 OVER QUIC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Future-proofing IoT telemetry transport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+92%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vs HTTP/2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13258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E5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−60%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01752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Time-to-First-Byte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697480"/>
            <a:ext cx="201168" cy="20116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67004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over UDP — no TCP head-of-line blocking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127248"/>
            <a:ext cx="201168" cy="20116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309981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0-RTT resumption: sensor reconnects instantly after radio outage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557016"/>
            <a:ext cx="201168" cy="20116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52958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Multi-stream: loss on one telemetry stream doesn't stall others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986784"/>
            <a:ext cx="201168" cy="20116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95935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mandatory — encrypted by design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416552"/>
            <a:ext cx="201168" cy="20116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4389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gain validated vs nginx HTTP/2 under same 5% loss profile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23560" y="274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23560" y="868680"/>
            <a:ext cx="3291840" cy="6675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1" name="Text 19"/>
          <p:cNvSpPr/>
          <p:nvPr/>
        </p:nvSpPr>
        <p:spPr>
          <a:xfrm>
            <a:off x="5715000" y="88696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15000" y="11887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aioquic (Python)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23560" y="1618488"/>
            <a:ext cx="3291840" cy="6675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4" name="Text 22"/>
          <p:cNvSpPr/>
          <p:nvPr/>
        </p:nvSpPr>
        <p:spPr>
          <a:xfrm>
            <a:off x="5715000" y="163677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15000" y="19385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UDP/4433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23560" y="2368296"/>
            <a:ext cx="3291840" cy="6675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5715000" y="238658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15000" y="268833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 (mandatory)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23560" y="3118104"/>
            <a:ext cx="3291840" cy="6675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0" name="Text 28"/>
          <p:cNvSpPr/>
          <p:nvPr/>
        </p:nvSpPr>
        <p:spPr>
          <a:xfrm>
            <a:off x="5715000" y="313639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715000" y="343814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telemetry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23560" y="3867912"/>
            <a:ext cx="3291840" cy="6675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3" name="Text 31"/>
          <p:cNvSpPr/>
          <p:nvPr/>
        </p:nvSpPr>
        <p:spPr>
          <a:xfrm>
            <a:off x="5715000" y="38862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15000" y="41879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(real testbed)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Packet Tracer only simulates HTTP/1.1 — all HTTP/3 figures from Linux testbed.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Tracer simulation + Linux iPerf3 testbed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53035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06440" y="960120"/>
            <a:ext cx="30632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97880" y="996696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ms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223760" y="1051560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mean RTT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806440" y="1892808"/>
            <a:ext cx="30632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97880" y="1929384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ms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7223760" y="1984248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mean RTT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06440" y="2825496"/>
            <a:ext cx="30632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897880" y="2862072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5×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7223760" y="2916936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latency penalty (CSMA/CA)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06440" y="3758184"/>
            <a:ext cx="30632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897880" y="379476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hops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7223760" y="3849624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→ Access path (TTL verified)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65760" y="4160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First-packet 25% loss on all hosts is expected ARP cache population — not a defect.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65760" y="454456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VLAN (VLAN 10) ping failed to WAN — correct Zero-Trust segmentation behaviour.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built. What we measured. What we learned.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743200" cy="3017520"/>
          </a:xfrm>
          <a:prstGeom prst="rect">
            <a:avLst/>
          </a:prstGeom>
          <a:solidFill>
            <a:srgbClr val="2D435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2743200" cy="6400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441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Built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1901952"/>
            <a:ext cx="146304" cy="146304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" y="1856232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campus network (Cisco IOS)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2359152"/>
            <a:ext cx="146304" cy="146304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" y="2313432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VLAN micro-segments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" y="2816352"/>
            <a:ext cx="146304" cy="146304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" y="2770632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Zero-Trust: 802.1X + DAI + FW + VPN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3273552"/>
            <a:ext cx="146304" cy="146304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" y="3227832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gateway: MQTT + Node-RED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3730752"/>
            <a:ext cx="146304" cy="146304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7" name="Text 15"/>
          <p:cNvSpPr/>
          <p:nvPr/>
        </p:nvSpPr>
        <p:spPr>
          <a:xfrm>
            <a:off x="585216" y="3685032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HTTP/3 telemetry endpoint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27832" y="1280160"/>
            <a:ext cx="2743200" cy="3017520"/>
          </a:xfrm>
          <a:prstGeom prst="rect">
            <a:avLst/>
          </a:prstGeom>
          <a:solidFill>
            <a:srgbClr val="2D435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27832" y="1280160"/>
            <a:ext cx="2743200" cy="6400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0" name="Text 18"/>
          <p:cNvSpPr/>
          <p:nvPr/>
        </p:nvSpPr>
        <p:spPr>
          <a:xfrm>
            <a:off x="3319272" y="13441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Results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37560" y="1901952"/>
            <a:ext cx="146304" cy="146304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2" name="Text 20"/>
          <p:cNvSpPr/>
          <p:nvPr/>
        </p:nvSpPr>
        <p:spPr>
          <a:xfrm>
            <a:off x="3538728" y="1856232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ms wired RTT  ·  20 ms wireless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37560" y="2359152"/>
            <a:ext cx="146304" cy="146304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4" name="Text 22"/>
          <p:cNvSpPr/>
          <p:nvPr/>
        </p:nvSpPr>
        <p:spPr>
          <a:xfrm>
            <a:off x="3538728" y="2313432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WireGuard: 10% overhead vs 34% IPsec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37560" y="2816352"/>
            <a:ext cx="146304" cy="146304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6" name="Text 24"/>
          <p:cNvSpPr/>
          <p:nvPr/>
        </p:nvSpPr>
        <p:spPr>
          <a:xfrm>
            <a:off x="3538728" y="2770632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BBR: +75% throughput vs Reno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37560" y="3273552"/>
            <a:ext cx="146304" cy="146304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28" name="Text 26"/>
          <p:cNvSpPr/>
          <p:nvPr/>
        </p:nvSpPr>
        <p:spPr>
          <a:xfrm>
            <a:off x="3538728" y="3227832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Edge: 200 ms → 15 ms decision latency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37560" y="3730752"/>
            <a:ext cx="146304" cy="146304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30" name="Text 28"/>
          <p:cNvSpPr/>
          <p:nvPr/>
        </p:nvSpPr>
        <p:spPr>
          <a:xfrm>
            <a:off x="3538728" y="3685032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HTTP/3: +92% throughput vs HTTP/2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81344" y="1280160"/>
            <a:ext cx="2743200" cy="3017520"/>
          </a:xfrm>
          <a:prstGeom prst="rect">
            <a:avLst/>
          </a:prstGeom>
          <a:solidFill>
            <a:srgbClr val="2D435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81344" y="1280160"/>
            <a:ext cx="2743200" cy="6400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3" name="Text 31"/>
          <p:cNvSpPr/>
          <p:nvPr/>
        </p:nvSpPr>
        <p:spPr>
          <a:xfrm>
            <a:off x="6272784" y="13441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Lessons Learned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291072" y="1901952"/>
            <a:ext cx="146304" cy="146304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0" y="1856232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on day 1 — not after an incident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91072" y="2359152"/>
            <a:ext cx="146304" cy="146304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37" name="Text 35"/>
          <p:cNvSpPr/>
          <p:nvPr/>
        </p:nvSpPr>
        <p:spPr>
          <a:xfrm>
            <a:off x="6492240" y="2313432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5× penalty is structural (CSMA/CA)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91072" y="2816352"/>
            <a:ext cx="146304" cy="146304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39" name="Text 37"/>
          <p:cNvSpPr/>
          <p:nvPr/>
        </p:nvSpPr>
        <p:spPr>
          <a:xfrm>
            <a:off x="6492240" y="2770632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workflow: Packet Tracer + Linux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91072" y="3273552"/>
            <a:ext cx="146304" cy="146304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41" name="Text 39"/>
          <p:cNvSpPr/>
          <p:nvPr/>
        </p:nvSpPr>
        <p:spPr>
          <a:xfrm>
            <a:off x="6492240" y="3227832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ZTA must be multi-vendor in production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91072" y="3730752"/>
            <a:ext cx="146304" cy="146304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43" name="Text 41"/>
          <p:cNvSpPr/>
          <p:nvPr/>
        </p:nvSpPr>
        <p:spPr>
          <a:xfrm>
            <a:off x="6492240" y="3685032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computing pays off at WAN scale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" y="4480560"/>
            <a:ext cx="822960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GIK Institute · CE313 Computer Communications &amp; Networks ·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IoT/Edge Network — Zero Trust Architecture</dc:title>
  <dc:subject>PptxGenJS Presentation</dc:subject>
  <dc:creator>Ali Muntazir, Abubakar Butt, Ismail, Usman</dc:creator>
  <cp:lastModifiedBy>Ali Muntazir, Abubakar Butt, Ismail, Usman</cp:lastModifiedBy>
  <cp:revision>1</cp:revision>
  <dcterms:created xsi:type="dcterms:W3CDTF">2026-05-13T11:57:57Z</dcterms:created>
  <dcterms:modified xsi:type="dcterms:W3CDTF">2026-05-13T11:57:57Z</dcterms:modified>
</cp:coreProperties>
</file>